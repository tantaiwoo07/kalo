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大家好，今天介绍的项目叫 kalo，是一个用 C++17 重写的终端文本编辑器。</a:t>
            </a:r>
          </a:p>
          <a:p>
            <a:r>
              <a:t>它的蓝本是 antirez 的 kilo，也就是那个著名的 C 语言教学项目。</a:t>
            </a:r>
          </a:p>
          <a:p>
            <a:r>
              <a:t>我做的不是把它编译通就完事，而是把它做成了一个真正能用的编辑器：存储层换成 Piece Table，中文排版是对的，测试和 CI 都齐了。</a:t>
            </a:r>
          </a:p>
          <a:p>
            <a:r>
              <a:t>右下角这三个数字是我全部的成果：三千多行源码、一万八千九百多项断言、四个平台的持续集成。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整个介绍分三部分。</a:t>
            </a:r>
          </a:p>
          <a:p>
            <a:r>
              <a:t>第一部分讲定位和原理，我会说明这个项目要解决哪四个问题，以及 Piece Table 这个数据结构为什么值得用。</a:t>
            </a:r>
          </a:p>
          <a:p>
            <a:r>
              <a:t>第二部分讲功能和工程，包括它现在能做什么，以及我怎么保证它一直是对的。</a:t>
            </a:r>
          </a:p>
          <a:p>
            <a:r>
              <a:t>第三部分是重点，讲未来计划——多语言语法高亮的分阶段路线。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第一部分讲定位和原理。</a:t>
            </a:r>
          </a:p>
          <a:p>
            <a:r>
              <a:t>我先说明这个项目是从哪里来的——它的蓝本是 antirez 的 kilo，一个只有一千行的 C 语言教学编辑器。</a:t>
            </a:r>
          </a:p>
          <a:p>
            <a:r>
              <a:t>我不会照着它抄，而是从零用 C++ 重写，同时解决四个具体问题。接下来三页分别讲定位、核心原理和架构。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先说清楚它是什么：一个能真正用起来的编辑器，不是跑通就完事的 demo。</a:t>
            </a:r>
          </a:p>
          <a:p>
            <a:r>
              <a:t>右边这四个问题是我从 kilo 那个教学项目里实际踩到的。</a:t>
            </a:r>
          </a:p>
          <a:p>
            <a:r>
              <a:t>最要命的是第一个：朴素字符串插入是 O(n) 的，改长文件会越来越卡。</a:t>
            </a:r>
          </a:p>
          <a:p>
            <a:r>
              <a:t>第二个是中文，一个汉字 3 字节但只占 2 列，光标位置和看到的字符对不上，这是很多终端编辑器的通病。</a:t>
            </a:r>
          </a:p>
          <a:p>
            <a:r>
              <a:t>最右边是每个问题对应的技术选择，后面几部分会逐一展开。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这一页是整个项目的技术核心。</a:t>
            </a:r>
          </a:p>
          <a:p>
            <a:r>
              <a:t>分块表的思路是：文本不存成一整条字符串，而是拆成一段段片段，每段记录自己在缓冲区里的位置，再把这些片段挂成一棵平衡树。</a:t>
            </a:r>
          </a:p>
          <a:p>
            <a:r>
              <a:t>这样插入只要在树上定位、改几个节点，不用搬动后面所有字符。</a:t>
            </a:r>
          </a:p>
          <a:p>
            <a:r>
              <a:t>实测下来随机插入比 std::string 快三倍，删除快两倍。</a:t>
            </a:r>
          </a:p>
          <a:p>
            <a:r>
              <a:t>但我必须诚实地说另一面：顺序追加反而慢三十倍，因为每敲一个字符都要走一次树操作。</a:t>
            </a:r>
          </a:p>
          <a:p>
            <a:r>
              <a:t>所以分块表不是万能替换，它的价值就在随机增删这个场景。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架构上是严格分层的，越往下越接近数据。</a:t>
            </a:r>
          </a:p>
          <a:p>
            <a:r>
              <a:t>最关键的是最底层的设计：PieceTable 是唯一的权威存储，上面那个 rows 只是派生出来的行视图缓存。</a:t>
            </a:r>
          </a:p>
          <a:p>
            <a:r>
              <a:t>为什么要分两层？因为编辑器需要按行列定位，而底层文本是连续的。分开的代价是要保证两者不跑偏，我的做法是写出一条可断言的不变式。</a:t>
            </a:r>
          </a:p>
          <a:p>
            <a:r>
              <a:t>右边这张图还体现了另一个细节：中文要同时维护三套下标，靠字符单元把它们对齐。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第二部分讲功能与工程。</a:t>
            </a:r>
          </a:p>
          <a:p>
            <a:r>
              <a:t>前面讲的是为什么这么做，这一部分讲的是现在做到了什么，以及我怎么保证它一直是对的。</a:t>
            </a:r>
          </a:p>
          <a:p>
            <a:r>
              <a:t>功能上分六块，工程质量上靠三层测试和四平台 CI。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功能上分六块。</a:t>
            </a:r>
          </a:p>
          <a:p>
            <a:r>
              <a:t>前四块是编辑能力：基本编辑保存、撤销、搜索、语法高亮。</a:t>
            </a:r>
          </a:p>
          <a:p>
            <a:r>
              <a:t>第五块是我比较在意的中文排版，这块很多同类编辑器做得并不好。</a:t>
            </a:r>
          </a:p>
          <a:p>
            <a:r>
              <a:t>第六块是跨平台，它是一个单二进制、零依赖的程序。</a:t>
            </a:r>
          </a:p>
          <a:p>
            <a:r>
              <a:t>最下面这三个场景是我自己实际会用的：远程改配置、没有图形界面时快速看一眼、读日志时搜关键字。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这一页讲质量保障。</a:t>
            </a:r>
          </a:p>
          <a:p>
            <a:r>
              <a:t>一万八千九百多项断言不是堆出来的，关键在于其中有对照 std::string 的随机差分测试——随机操作之后逐轮比对两边内容是否一致，这是人眼永远做不到的。</a:t>
            </a:r>
          </a:p>
          <a:p>
            <a:r>
              <a:t>还有一层是端到端冒烟：把按键序列喂给编辑器本体，让它自己走完编辑和保存，再核对落盘内容。</a:t>
            </a:r>
          </a:p>
          <a:p>
            <a:r>
              <a:t>CI 在四个平台跑同一套测试，而且把警告当错误。换到 CI 上编译器版本更新，正好能照出潜伏的写法。</a:t>
            </a:r>
          </a:p>
          <a:p>
            <a:r>
              <a:t>最后一行我如实说：macOS 和 WSL 到现在还没有真机跑过，这是目前唯一的验证缺口。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这一页我想讲清楚它和同类工具的差别。</a:t>
            </a:r>
          </a:p>
          <a:p>
            <a:r>
              <a:t>左边是横向对比：中文列宽、高亮、编辑复杂度、一致性保障、跨平台、可读性。</a:t>
            </a:r>
          </a:p>
          <a:p>
            <a:r>
              <a:t>右边这四条是我认为真正的差异点。</a:t>
            </a:r>
          </a:p>
          <a:p>
            <a:r>
              <a:t>第一条最关键：一致性不是靠小心翼翼，而是写成可断言的不变式，用随机差分测试守住。</a:t>
            </a:r>
          </a:p>
          <a:p>
            <a:r>
              <a:t>第四条可能有点特别——我在代码里标注了 24 处知道存在但没有修的问题，还写了修法，而不是假装它们不存在。</a:t>
            </a:r>
          </a:p>
          <a:p>
            <a:r>
              <a:t>最后我要说清楚：kalo 不是要替代 nano 或 vim，它们的成熟度不可同日而语。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最后一部分是未来计划，也是这次介绍的重点。</a:t>
            </a:r>
          </a:p>
          <a:p>
            <a:r>
              <a:t>语法高亮目前只支持 C/C++ 和 Python，我把它拆成了三个阶段：填表扩语言、重构规则表达力、规则外置为配置。</a:t>
            </a:r>
          </a:p>
          <a:p>
            <a:r>
              <a:t>在展开之前，先用一页说明现在卡在哪三个地方。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在讲未来计划之前，先说清楚现在做到了什么、卡在哪里。</a:t>
            </a:r>
          </a:p>
          <a:p>
            <a:r>
              <a:t>现在的规则已经是数据驱动的：一张规则表描述后缀、关键字、类型名、注释符号，由一个逐字符的状态机判定。块注释能跨行传播，所以跨行的块注释着色是对的。</a:t>
            </a:r>
          </a:p>
          <a:p>
            <a:r>
              <a:t>但有三个瓶颈。</a:t>
            </a:r>
          </a:p>
          <a:p>
            <a:r>
              <a:t>第一，注释规则每个槽位只能放一个字符串，这意味着 Rust 的文档注释、Python 的三引号、JS 的模板串都表达不了。</a:t>
            </a:r>
          </a:p>
          <a:p>
            <a:r>
              <a:t>第二，关键字查找是线性比对，扩到几百个关键字后会成为性能问题。</a:t>
            </a:r>
          </a:p>
          <a:p>
            <a:r>
              <a:t>第三，除了块注释之外没有行内的多行状态。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这一页是重点，我把多语言高亮拆成了三个阶段。</a:t>
            </a:r>
          </a:p>
          <a:p>
            <a:r>
              <a:t>阶段一是最划算的：规则本身已经是数据驱动的，我只需要把注册表化、把关键字查找换成哈希表，两三天就能加上 Java、JavaScript、Go、Rust。</a:t>
            </a:r>
          </a:p>
          <a:p>
            <a:r>
              <a:t>阶段二要动语法引擎，把注释和字符串规则从单值改成列表，这样才能支持三引号、模板串这些。这一步改动大，但测试兜得住。</a:t>
            </a:r>
          </a:p>
          <a:p>
            <a:r>
              <a:t>阶段三是把规则挪到配置文件里，以后加语言不用重编。</a:t>
            </a:r>
          </a:p>
          <a:p>
            <a:r>
              <a:t>排序的理由很直接：先用零风险的方式铺开语言数量，再回头补表达能力，最后才做架构升级。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最后总结一下。</a:t>
            </a:r>
          </a:p>
          <a:p>
            <a:r>
              <a:t>这个项目我想做到三件事：能跑、能测量、能验证。能跑是基本功；能测量意味着每个取舍都有数据，包括对我不利的那些；能验证意味着有一万八千多项断言和四平台 CI 兜着。</a:t>
            </a:r>
          </a:p>
          <a:p>
            <a:r>
              <a:t>下一步先把语法高亮的阶段一做掉，再动选择区和多缓冲区。</a:t>
            </a:r>
          </a:p>
          <a:p>
            <a:r>
              <a:t>另外说明一点：这个项目是人主导设计、AI 协助实现的产物，README 里把每一部分代码的来历都标注清楚了。欢迎大家去看，也欢迎提 issue。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42875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38BDF8"/>
                </a:solidFill>
                <a:latin typeface="Consolas"/>
              </a:rPr>
              <a:t>C++17 · PIECE TABLE · TERMINAL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1771650"/>
            <a:ext cx="59055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200" b="1">
                <a:solidFill>
                  <a:srgbClr val="E2E8F0"/>
                </a:solidFill>
                <a:latin typeface="微软雅黑"/>
              </a:rPr>
              <a:t>kalo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48000"/>
            <a:ext cx="685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314700"/>
            <a:ext cx="5905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50" b="1">
                <a:solidFill>
                  <a:srgbClr val="E2E8F0"/>
                </a:solidFill>
                <a:latin typeface="微软雅黑"/>
              </a:rPr>
              <a:t>从教学项目出发的终端文本编辑器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10000"/>
            <a:ext cx="6096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1275" b="0">
                <a:solidFill>
                  <a:srgbClr val="94A3B8"/>
                </a:solidFill>
                <a:latin typeface="微软雅黑"/>
              </a:rPr>
              <a:t>用分块表把随机编辑做成 O(log K)，用东亚宽度把中文排版做对，
再用三层测试与四平台 CI 把「能跑」变成「可验证」。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800" y="1428750"/>
            <a:ext cx="2514600" cy="2857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067800" y="1428750"/>
            <a:ext cx="2514600" cy="3238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201150" y="1533525"/>
            <a:ext cx="85725" cy="85725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72600" y="1533525"/>
            <a:ext cx="85725" cy="85725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544050" y="1533525"/>
            <a:ext cx="85725" cy="85725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906000" y="1524000"/>
            <a:ext cx="1524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94A3B8"/>
                </a:solidFill>
                <a:latin typeface="Consolas"/>
              </a:rPr>
              <a:t>demo.cpp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8300" y="1943100"/>
            <a:ext cx="215265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975" b="0">
                <a:solidFill>
                  <a:srgbClr val="38BDF8"/>
                </a:solidFill>
                <a:latin typeface="Consolas"/>
              </a:rPr>
              <a:t>int</a:t>
            </a:r>
            <a:r>
              <a:rPr sz="975" b="0">
                <a:solidFill>
                  <a:srgbClr val="E2E8F0"/>
                </a:solidFill>
                <a:latin typeface="Consolas"/>
              </a:rPr>
              <a:t> main(void) {</a:t>
            </a:r>
          </a:p>
          <a:p>
            <a:pPr algn="l">
              <a:lnSpc>
                <a:spcPct val="160000"/>
              </a:lnSpc>
            </a:pPr>
            <a:r>
              <a:rPr sz="975" b="0">
                <a:solidFill>
                  <a:srgbClr val="E2E8F0"/>
                </a:solidFill>
                <a:latin typeface="Consolas"/>
              </a:rPr>
              <a:t>  const char *s = "中文";</a:t>
            </a:r>
          </a:p>
          <a:p>
            <a:pPr algn="l">
              <a:lnSpc>
                <a:spcPct val="16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  /* 分块表 + 撤销 */</a:t>
            </a:r>
          </a:p>
          <a:p>
            <a:pPr algn="l">
              <a:lnSpc>
                <a:spcPct val="160000"/>
              </a:lnSpc>
            </a:pPr>
            <a:r>
              <a:rPr sz="975" b="0">
                <a:solidFill>
                  <a:srgbClr val="E2E8F0"/>
                </a:solidFill>
                <a:latin typeface="Consolas"/>
              </a:rPr>
              <a:t>  return 0;</a:t>
            </a:r>
          </a:p>
          <a:p>
            <a:pPr algn="l">
              <a:lnSpc>
                <a:spcPct val="160000"/>
              </a:lnSpc>
            </a:pPr>
            <a:r>
              <a:rPr sz="975" b="0">
                <a:solidFill>
                  <a:srgbClr val="38BDF8"/>
                </a:solidFill>
                <a:latin typeface="Consolas"/>
              </a:rPr>
              <a:t>}</a:t>
            </a:r>
          </a:p>
          <a:p>
            <a:pPr algn="l">
              <a:lnSpc>
                <a:spcPct val="160000"/>
              </a:lnSpc>
            </a:pPr>
            <a:r>
              <a:rPr sz="975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>
              <a:lnSpc>
                <a:spcPct val="160000"/>
              </a:lnSpc>
            </a:pPr>
            <a:r>
              <a:rPr sz="975" b="0">
                <a:solidFill>
                  <a:srgbClr val="38BDF8"/>
                </a:solidFill>
                <a:latin typeface="Consolas"/>
              </a:rPr>
              <a:t>1864 行源码</a:t>
            </a:r>
          </a:p>
          <a:p>
            <a:pPr algn="l">
              <a:lnSpc>
                <a:spcPct val="16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单二进制 · 零依赖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209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150" b="1">
                <a:solidFill>
                  <a:srgbClr val="38BDF8"/>
                </a:solidFill>
                <a:latin typeface="Consolas"/>
              </a:rPr>
              <a:t>3,467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62600"/>
            <a:ext cx="209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行 C++ 源码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4200" y="5029200"/>
            <a:ext cx="209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150" b="1">
                <a:solidFill>
                  <a:srgbClr val="E2E8F0"/>
                </a:solidFill>
                <a:latin typeface="Consolas"/>
              </a:rPr>
              <a:t>18,964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4200" y="5562600"/>
            <a:ext cx="209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项断言全通过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0" y="5029200"/>
            <a:ext cx="20955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150" b="1">
                <a:solidFill>
                  <a:srgbClr val="E2E8F0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5562600"/>
            <a:ext cx="209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个平台 CI 构建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7800" y="5334000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github.com/TanTaiwoo07/kalo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7800" y="5619750"/>
            <a:ext cx="251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作者 TaiWoo_Chen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2E8F0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76350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457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kalo · github.com/TanTaiwoo07/kalo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457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02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76400"/>
            <a:ext cx="10820400" cy="1143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2500" y="1962150"/>
            <a:ext cx="1047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450" b="1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19431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50" b="1">
                <a:solidFill>
                  <a:srgbClr val="E2E8F0"/>
                </a:solidFill>
                <a:latin typeface="微软雅黑"/>
              </a:rPr>
              <a:t>定位与原理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0750" y="2324100"/>
            <a:ext cx="5905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4A3B8"/>
                </a:solidFill>
                <a:latin typeface="微软雅黑"/>
              </a:rPr>
              <a:t>要解决什么问题，Piece Table 为什么值得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0" y="2114550"/>
            <a:ext cx="1714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Consolas"/>
              </a:rPr>
              <a:t>P03 – P06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86100"/>
            <a:ext cx="10820400" cy="1143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2500" y="3371850"/>
            <a:ext cx="1047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450" b="1">
                <a:solidFill>
                  <a:srgbClr val="38BDF8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750" y="33528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50" b="1">
                <a:solidFill>
                  <a:srgbClr val="E2E8F0"/>
                </a:solidFill>
                <a:latin typeface="微软雅黑"/>
              </a:rPr>
              <a:t>功能与工程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0750" y="3733800"/>
            <a:ext cx="5905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4A3B8"/>
                </a:solidFill>
                <a:latin typeface="微软雅黑"/>
              </a:rPr>
              <a:t>能做什么，怎么保证它一直是对的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0" y="3524250"/>
            <a:ext cx="1714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Consolas"/>
              </a:rPr>
              <a:t>P07 – P10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95800"/>
            <a:ext cx="10820400" cy="1143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2500" y="4781550"/>
            <a:ext cx="1047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450" b="1">
                <a:solidFill>
                  <a:srgbClr val="38BDF8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0750" y="47625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50" b="1">
                <a:solidFill>
                  <a:srgbClr val="E2E8F0"/>
                </a:solidFill>
                <a:latin typeface="微软雅黑"/>
              </a:rPr>
              <a:t>未来计划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0750" y="5143500"/>
            <a:ext cx="5905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4A3B8"/>
                </a:solidFill>
                <a:latin typeface="微软雅黑"/>
              </a:rPr>
              <a:t>多语言语法高亮的分阶段路线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4933950"/>
            <a:ext cx="1714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Consolas"/>
              </a:rPr>
              <a:t>P11 – P13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2038350"/>
            <a:ext cx="3810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0" b="1">
                <a:solidFill>
                  <a:srgbClr val="1E293B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575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900" b="1">
                <a:solidFill>
                  <a:srgbClr val="E2E8F0"/>
                </a:solidFill>
                <a:latin typeface="微软雅黑"/>
              </a:rPr>
              <a:t>定位与原理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1100" y="373380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1100" y="394335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94A3B8"/>
                </a:solidFill>
                <a:latin typeface="微软雅黑"/>
              </a:rPr>
              <a:t>要解决什么问题，以及 Piece Table 为什么值得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2865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2E8F0"/>
                </a:solidFill>
                <a:latin typeface="微软雅黑"/>
              </a:rPr>
              <a:t>项目定位与要解决的四个问题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76350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457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kalo · github.com/TanTaiwoo07/kalo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457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04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5900"/>
            <a:ext cx="6286500" cy="12382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695450"/>
            <a:ext cx="58293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2150"/>
            <a:ext cx="582930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E2E8F0"/>
                </a:solidFill>
                <a:latin typeface="微软雅黑"/>
              </a:rPr>
              <a:t>一个能真正用起来的终端编辑器，而不是跑通就行的教学 demo。
判断标准很朴素：改大文件不卡、中文不乱码、崩溃了能复现。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297180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29718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>
                <a:solidFill>
                  <a:srgbClr val="E2E8F0"/>
                </a:solidFill>
                <a:latin typeface="微软雅黑"/>
              </a:rPr>
              <a:t>O(n) 的插入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300" y="3257550"/>
            <a:ext cx="5619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朴素字符串每次插入都要搬动后半段文本，改长文件会越来越卡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71475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38BDF8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37147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>
                <a:solidFill>
                  <a:srgbClr val="E2E8F0"/>
                </a:solidFill>
                <a:latin typeface="微软雅黑"/>
              </a:rPr>
              <a:t>中文列宽错位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4000500"/>
            <a:ext cx="5619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一个汉字 3 字节却只占 2 列，光标与视觉位置对不上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445770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38BDF8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" y="445770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>
                <a:solidFill>
                  <a:srgbClr val="E2E8F0"/>
                </a:solidFill>
                <a:latin typeface="微软雅黑"/>
              </a:rPr>
              <a:t>跨平台编译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" y="4743450"/>
            <a:ext cx="5619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Windows 没有 termios / unistd，POSIX 源码无法直接编译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520065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38BDF8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5200650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>
                <a:solidFill>
                  <a:srgbClr val="E2E8F0"/>
                </a:solidFill>
                <a:latin typeface="微软雅黑"/>
              </a:rPr>
              <a:t>数据一致性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" y="5486400"/>
            <a:ext cx="5619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权威文本与行视图缓存可能跑偏，且很难被肉眼发现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3300" y="1485900"/>
            <a:ext cx="4152900" cy="4267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20000" y="173355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对应的技术选择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0" y="2133600"/>
            <a:ext cx="24765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620000" y="2286000"/>
            <a:ext cx="3619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E2E8F0"/>
                </a:solidFill>
                <a:latin typeface="微软雅黑"/>
              </a:rPr>
              <a:t>分块表 + FHQ-Treap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0" y="2571750"/>
            <a:ext cx="3619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随机插入删除降到 O(log 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0000" y="3048000"/>
            <a:ext cx="24765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20000" y="3200400"/>
            <a:ext cx="3619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E2E8F0"/>
                </a:solidFill>
                <a:latin typeface="微软雅黑"/>
              </a:rPr>
              <a:t>东亚宽度 + 字符单元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0" y="3486150"/>
            <a:ext cx="3619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三套下标统一，中文不错位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0" y="3962400"/>
            <a:ext cx="24765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620000" y="4114800"/>
            <a:ext cx="3619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E2E8F0"/>
                </a:solidFill>
                <a:latin typeface="微软雅黑"/>
              </a:rPr>
              <a:t>平台兼容层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0" y="4400550"/>
            <a:ext cx="3619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src/ 下 POSIX 源码一行不改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0" y="4876800"/>
            <a:ext cx="24765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620000" y="5029200"/>
            <a:ext cx="3619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E2E8F0"/>
                </a:solidFill>
                <a:latin typeface="微软雅黑"/>
              </a:rPr>
              <a:t>权威存储 + 可断言不变式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0" y="5314950"/>
            <a:ext cx="3619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一致性由随机差分测试保证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CORE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2E8F0"/>
                </a:solidFill>
                <a:latin typeface="微软雅黑"/>
              </a:rPr>
              <a:t>核心原理：分块表与 FHQ-Treap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76350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457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kalo · github.com/TanTaiwoo07/kalo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457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05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7800"/>
            <a:ext cx="5334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随机插入加速比（20 万字符文档，2 万次随机插入）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638300"/>
            <a:ext cx="4381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7800" b="1">
                <a:solidFill>
                  <a:srgbClr val="38BDF8"/>
                </a:solidFill>
                <a:latin typeface="Consolas"/>
              </a:rPr>
              <a:t>3.06x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7050"/>
            <a:ext cx="4476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E2E8F0"/>
                </a:solidFill>
                <a:latin typeface="微软雅黑"/>
              </a:rPr>
              <a:t>文本以「片段」挂在 Treap 上，
插入与删除只改动 O(log K) 个节点，
K 是片段数而不是文档长度。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52900"/>
            <a:ext cx="4476750" cy="17716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4324350"/>
            <a:ext cx="400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代价也要说清楚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0100"/>
            <a:ext cx="4000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顺序追加 20 万字符：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76800"/>
            <a:ext cx="4000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38BDF8"/>
                </a:solidFill>
                <a:latin typeface="Consolas"/>
              </a:rPr>
              <a:t>0.03x</a:t>
            </a:r>
            <a:r>
              <a:rPr sz="1200" b="0">
                <a:solidFill>
                  <a:srgbClr val="E2E8F0"/>
                </a:solidFill>
                <a:latin typeface="微软雅黑"/>
              </a:rPr>
              <a:t>  比 std::string 慢 30 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1150"/>
            <a:ext cx="40005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分块表换来的优势在随机增删，不在顺序写——这是选型必须承认的代价。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05450" y="1447800"/>
            <a:ext cx="6000750" cy="20383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734050" y="1638300"/>
            <a:ext cx="5543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两个只增不减的缓冲区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34050" y="2000250"/>
            <a:ext cx="1809750" cy="533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34050" y="2152650"/>
            <a:ext cx="18097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Consolas"/>
              </a:rPr>
              <a:t>original_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0" y="21526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装载时的原始文本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34050" y="2705100"/>
            <a:ext cx="1809750" cy="533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34050" y="2857500"/>
            <a:ext cx="18097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Consolas"/>
              </a:rPr>
              <a:t>add_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0" y="285750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后续所有新写入的字符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4050" y="3200400"/>
            <a:ext cx="5543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因为缓冲区不被改写，撤销时可以安全地继续引用旧区间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505450" y="3714750"/>
          <a:ext cx="600075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/>
                <a:gridCol w="1714500"/>
                <a:gridCol w="1714500"/>
              </a:tblGrid>
              <a:tr h="336550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38BDF8"/>
                          </a:solidFill>
                          <a:latin typeface="微软雅黑"/>
                        </a:rPr>
                        <a:t>操作</a:t>
                      </a:r>
                    </a:p>
                  </a:txBody>
                  <a:tcPr marL="114300" marR="114300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8BDF8"/>
                          </a:solidFill>
                          <a:latin typeface="Consolas"/>
                        </a:rPr>
                        <a:t>PieceTable</a:t>
                      </a:r>
                    </a:p>
                  </a:txBody>
                  <a:tcPr marL="114300" marR="114300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38BDF8"/>
                          </a:solidFill>
                          <a:latin typeface="Consolas"/>
                        </a:rPr>
                        <a:t>std::string</a:t>
                      </a:r>
                    </a:p>
                  </a:txBody>
                  <a:tcPr marL="114300" marR="114300" anchor="ctr">
                    <a:solidFill>
                      <a:srgbClr val="1E293B"/>
                    </a:solidFill>
                  </a:tcPr>
                </a:tc>
              </a:tr>
              <a:tr h="33655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微软雅黑"/>
                        </a:rPr>
                        <a:t>随机插入 2 万次</a:t>
                      </a:r>
                    </a:p>
                  </a:txBody>
                  <a:tcPr marL="114300" marR="114300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8.2 ms</a:t>
                      </a:r>
                    </a:p>
                  </a:txBody>
                  <a:tcPr marL="114300" marR="114300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25.0 ms</a:t>
                      </a:r>
                    </a:p>
                  </a:txBody>
                  <a:tcPr marL="114300" marR="114300" anchor="ctr">
                    <a:solidFill>
                      <a:srgbClr val="0F172A"/>
                    </a:solidFill>
                  </a:tcPr>
                </a:tc>
              </a:tr>
              <a:tr h="33655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微软雅黑"/>
                        </a:rPr>
                        <a:t>随机删除 2 万次</a:t>
                      </a:r>
                    </a:p>
                  </a:txBody>
                  <a:tcPr marL="114300" marR="114300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10.2 ms</a:t>
                      </a:r>
                    </a:p>
                  </a:txBody>
                  <a:tcPr marL="114300" marR="114300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22.5 ms</a:t>
                      </a:r>
                    </a:p>
                  </a:txBody>
                  <a:tcPr marL="114300" marR="114300" anchor="ctr">
                    <a:solidFill>
                      <a:srgbClr val="1E293B"/>
                    </a:solidFill>
                  </a:tcPr>
                </a:tc>
              </a:tr>
              <a:tr h="33655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微软雅黑"/>
                        </a:rPr>
                        <a:t>顺序追加 20 万字符</a:t>
                      </a:r>
                    </a:p>
                  </a:txBody>
                  <a:tcPr marL="114300" marR="114300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6.0 ms</a:t>
                      </a:r>
                    </a:p>
                  </a:txBody>
                  <a:tcPr marL="114300" marR="114300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0.2 ms</a:t>
                      </a:r>
                    </a:p>
                  </a:txBody>
                  <a:tcPr marL="114300" marR="114300" anchor="ctr">
                    <a:solidFill>
                      <a:srgbClr val="0F172A"/>
                    </a:solidFill>
                  </a:tcPr>
                </a:tc>
              </a:tr>
              <a:tr h="33655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微软雅黑"/>
                        </a:rPr>
                        <a:t>撤销 2 万次插入</a:t>
                      </a:r>
                    </a:p>
                  </a:txBody>
                  <a:tcPr marL="114300" marR="114300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6.7 ms</a:t>
                      </a:r>
                    </a:p>
                  </a:txBody>
                  <a:tcPr marL="114300" marR="114300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14300" marR="114300" anchor="ctr">
                    <a:solidFill>
                      <a:srgbClr val="1E293B"/>
                    </a:solidFill>
                  </a:tcPr>
                </a:tc>
              </a:tr>
              <a:tr h="33655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微软雅黑"/>
                        </a:rPr>
                        <a:t>全量序列化（单次）</a:t>
                      </a:r>
                    </a:p>
                  </a:txBody>
                  <a:tcPr marL="114300" marR="114300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0.004 ms</a:t>
                      </a:r>
                    </a:p>
                  </a:txBody>
                  <a:tcPr marL="114300" marR="114300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94A3B8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14300" marR="114300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2E8F0"/>
                </a:solidFill>
                <a:latin typeface="微软雅黑"/>
              </a:rPr>
              <a:t>架构与数据流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76350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457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kalo · github.com/TanTaiwoo07/kalo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457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06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8590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38BDF8"/>
                </a:solidFill>
                <a:latin typeface="Consolas"/>
              </a:rPr>
              <a:t>核心不变式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09750"/>
            <a:ext cx="5905500" cy="11239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981200"/>
            <a:ext cx="54483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25" b="0">
                <a:solidFill>
                  <a:srgbClr val="E2E8F0"/>
                </a:solidFill>
                <a:latin typeface="微软雅黑"/>
              </a:rPr>
              <a:t>PieceTable 是唯一权威文本存储，rows 只是派生缓存。
把 rows 用换行符连接起来，要么等于权威文本，要么等于它去掉末尾那一个换行——这条判据在随机编辑测试里被逐步校验。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4325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38BDF8"/>
                </a:solidFill>
                <a:latin typeface="Consolas"/>
              </a:rPr>
              <a:t>三套下标，靠「字符单元」对齐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900" y="3581400"/>
            <a:ext cx="133350" cy="1333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9650" y="3505200"/>
            <a:ext cx="2476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E2E8F0"/>
                </a:solidFill>
                <a:latin typeface="Consolas"/>
              </a:rPr>
              <a:t>chars 字节下标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505200"/>
            <a:ext cx="2762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编辑器坐标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900" y="4114800"/>
            <a:ext cx="133350" cy="1333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9650" y="4038600"/>
            <a:ext cx="2476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E2E8F0"/>
                </a:solidFill>
                <a:latin typeface="Consolas"/>
              </a:rPr>
              <a:t>render 字节下标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4038600"/>
            <a:ext cx="2762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写进终端的字节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3900" y="4648200"/>
            <a:ext cx="133350" cy="1333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9650" y="4572000"/>
            <a:ext cx="24765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E2E8F0"/>
                </a:solidFill>
                <a:latin typeface="Consolas"/>
              </a:rPr>
              <a:t>显示列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0" y="4572000"/>
            <a:ext cx="2762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一个字符占几列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9700"/>
            <a:ext cx="5905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25" b="0">
                <a:solidFill>
                  <a:srgbClr val="94A3B8"/>
                </a:solidFill>
                <a:latin typeface="微软雅黑"/>
              </a:rPr>
              <a:t>一个中文字符 3 字节但占 2 列，直接按字节算就会错位。
Row 里的三张换算表把这件事一次算清，绘制与高亮共用同一套下标。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77150" y="1485900"/>
            <a:ext cx="3238500" cy="4762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48600" y="1562100"/>
            <a:ext cx="28956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1">
                <a:solidFill>
                  <a:srgbClr val="E2E8F0"/>
                </a:solidFill>
                <a:latin typeface="Consolas"/>
              </a:rPr>
              <a:t>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600" y="1752600"/>
            <a:ext cx="2895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94A3B8"/>
                </a:solidFill>
                <a:latin typeface="微软雅黑"/>
              </a:rPr>
              <a:t>裸模式 · 读键 · 转义序列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6875" y="1962150"/>
            <a:ext cx="19050" cy="1333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7534275" y="2095500"/>
            <a:ext cx="3524250" cy="4762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05725" y="2171700"/>
            <a:ext cx="3181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1">
                <a:solidFill>
                  <a:srgbClr val="E2E8F0"/>
                </a:solidFill>
                <a:latin typeface="Consolas"/>
              </a:rPr>
              <a:t>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5725" y="2362200"/>
            <a:ext cx="31813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94A3B8"/>
                </a:solidFill>
                <a:latin typeface="微软雅黑"/>
              </a:rPr>
              <a:t>输出缓冲 · 窗口尺寸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6875" y="2571750"/>
            <a:ext cx="19050" cy="1333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391400" y="2705100"/>
            <a:ext cx="3810000" cy="4762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62850" y="2781300"/>
            <a:ext cx="34671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1">
                <a:solidFill>
                  <a:srgbClr val="E2E8F0"/>
                </a:solidFill>
                <a:latin typeface="Consolas"/>
              </a:rPr>
              <a:t>Editor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850" y="2971800"/>
            <a:ext cx="3467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94A3B8"/>
                </a:solidFill>
                <a:latin typeface="微软雅黑"/>
              </a:rPr>
              <a:t>主循环 · 绘制 · 存盘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6875" y="3181350"/>
            <a:ext cx="19050" cy="1333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7248525" y="3314700"/>
            <a:ext cx="4095750" cy="4762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419975" y="3390900"/>
            <a:ext cx="37528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1">
                <a:solidFill>
                  <a:srgbClr val="E2E8F0"/>
                </a:solidFill>
                <a:latin typeface="Consolas"/>
              </a:rPr>
              <a:t>Cursor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9975" y="3581400"/>
            <a:ext cx="3752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94A3B8"/>
                </a:solidFill>
                <a:latin typeface="微软雅黑"/>
              </a:rPr>
              <a:t>光标位置与滚动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6875" y="3790950"/>
            <a:ext cx="19050" cy="1333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7105650" y="3924300"/>
            <a:ext cx="4381500" cy="4762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277100" y="4000500"/>
            <a:ext cx="40386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1">
                <a:solidFill>
                  <a:srgbClr val="E2E8F0"/>
                </a:solidFill>
                <a:latin typeface="Consolas"/>
              </a:rPr>
              <a:t>Syntax / Utf8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77100" y="4191000"/>
            <a:ext cx="4038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94A3B8"/>
                </a:solidFill>
                <a:latin typeface="微软雅黑"/>
              </a:rPr>
              <a:t>高亮标记 · 列宽与字符切分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6875" y="4400550"/>
            <a:ext cx="19050" cy="1333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962775" y="4533900"/>
            <a:ext cx="4667250" cy="4762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4225" y="4610100"/>
            <a:ext cx="4324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1">
                <a:solidFill>
                  <a:srgbClr val="E2E8F0"/>
                </a:solidFill>
                <a:latin typeface="Consolas"/>
              </a:rPr>
              <a:t>Buffer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4225" y="4800600"/>
            <a:ext cx="43243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94A3B8"/>
                </a:solidFill>
                <a:latin typeface="微软雅黑"/>
              </a:rPr>
              <a:t>行视图缓存 rows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6875" y="5010150"/>
            <a:ext cx="19050" cy="1333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6819900" y="5143500"/>
            <a:ext cx="4953000" cy="47625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991350" y="5219700"/>
            <a:ext cx="46101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1">
                <a:solidFill>
                  <a:srgbClr val="38BDF8"/>
                </a:solidFill>
                <a:latin typeface="Consolas"/>
              </a:rPr>
              <a:t>PieceTable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1350" y="5410200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94A3B8"/>
                </a:solidFill>
                <a:latin typeface="微软雅黑"/>
              </a:rPr>
              <a:t>权威文本 + 撤销历史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2038350"/>
            <a:ext cx="3810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0" b="1">
                <a:solidFill>
                  <a:srgbClr val="1E293B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575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900" b="1">
                <a:solidFill>
                  <a:srgbClr val="E2E8F0"/>
                </a:solidFill>
                <a:latin typeface="微软雅黑"/>
              </a:rPr>
              <a:t>功能与工程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1100" y="373380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1100" y="394335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94A3B8"/>
                </a:solidFill>
                <a:latin typeface="微软雅黑"/>
              </a:rPr>
              <a:t>能做什么，以及怎么保证它一直是对的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2865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2E8F0"/>
                </a:solidFill>
                <a:latin typeface="微软雅黑"/>
              </a:rPr>
              <a:t>功能清单与典型使用场景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76350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457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kalo · github.com/TanTaiwoo07/kalo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457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08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5900"/>
            <a:ext cx="3429000" cy="14097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1485900"/>
            <a:ext cx="34290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5350" y="1695450"/>
            <a:ext cx="30099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>
                <a:solidFill>
                  <a:srgbClr val="E2E8F0"/>
                </a:solidFill>
                <a:latin typeface="微软雅黑"/>
              </a:rPr>
              <a:t>编辑与保存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038350"/>
            <a:ext cx="30099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打开 / 编辑 / 保存，状态栏与消息栏，制表符展开，多行与退格合并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85900"/>
            <a:ext cx="3429000" cy="14097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43400" y="1485900"/>
            <a:ext cx="34290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52950" y="1695450"/>
            <a:ext cx="30099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>
                <a:solidFill>
                  <a:srgbClr val="E2E8F0"/>
                </a:solidFill>
                <a:latin typeface="微软雅黑"/>
              </a:rPr>
              <a:t>撤销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2950" y="2038350"/>
            <a:ext cx="30099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Ctrl-Z，由分块表的片段历史支撑；缓冲区只增不减，旧区间可安全引用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485900"/>
            <a:ext cx="3429000" cy="14097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01000" y="1485900"/>
            <a:ext cx="34290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10550" y="1695450"/>
            <a:ext cx="30099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>
                <a:solidFill>
                  <a:srgbClr val="E2E8F0"/>
                </a:solidFill>
                <a:latin typeface="微软雅黑"/>
              </a:rPr>
              <a:t>搜索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0550" y="2038350"/>
            <a:ext cx="30099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Ctrl-F 增量查找，上下键切换命中并回绕，Tab 切大小写，状态栏显示第几个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86100"/>
            <a:ext cx="3429000" cy="14097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3086100"/>
            <a:ext cx="34290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95350" y="3295650"/>
            <a:ext cx="30099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>
                <a:solidFill>
                  <a:srgbClr val="E2E8F0"/>
                </a:solidFill>
                <a:latin typeface="微软雅黑"/>
              </a:rPr>
              <a:t>语法高亮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3638550"/>
            <a:ext cx="30099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按扩展名识别 C/C++ 与 Python，关键字 / 类型 / 数字 / 字符串 / 多行注释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086100"/>
            <a:ext cx="3429000" cy="14097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343400" y="3086100"/>
            <a:ext cx="34290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52950" y="3295650"/>
            <a:ext cx="30099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>
                <a:solidFill>
                  <a:srgbClr val="E2E8F0"/>
                </a:solidFill>
                <a:latin typeface="微软雅黑"/>
              </a:rPr>
              <a:t>中文排版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2950" y="3638550"/>
            <a:ext cx="30099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按东亚宽度算列宽，方向键与退格按字符而非字节走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086100"/>
            <a:ext cx="3429000" cy="14097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01000" y="3086100"/>
            <a:ext cx="34290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10550" y="3295650"/>
            <a:ext cx="30099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25" b="1">
                <a:solidFill>
                  <a:srgbClr val="E2E8F0"/>
                </a:solidFill>
                <a:latin typeface="微软雅黑"/>
              </a:rPr>
              <a:t>跨平台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0550" y="3638550"/>
            <a:ext cx="30099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Linux / macOS / WSL 与 Windows 原生构建，单二进制零依赖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762500"/>
            <a:ext cx="10820400" cy="9525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4400" y="4914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38BDF8"/>
                </a:solidFill>
                <a:latin typeface="Consolas"/>
              </a:rPr>
              <a:t>典型场景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19700"/>
            <a:ext cx="323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微软雅黑"/>
              </a:rPr>
              <a:t>· </a:t>
            </a:r>
            <a:r>
              <a:rPr sz="1200" b="0">
                <a:solidFill>
                  <a:srgbClr val="E2E8F0"/>
                </a:solidFill>
                <a:latin typeface="微软雅黑"/>
              </a:rPr>
              <a:t>服务器上远程改配置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8650" y="5219700"/>
            <a:ext cx="323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微软雅黑"/>
              </a:rPr>
              <a:t>· </a:t>
            </a:r>
            <a:r>
              <a:rPr sz="1200" b="0">
                <a:solidFill>
                  <a:srgbClr val="E2E8F0"/>
                </a:solidFill>
                <a:latin typeface="微软雅黑"/>
              </a:rPr>
              <a:t>没有图形界面时的快速查看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62900" y="5219700"/>
            <a:ext cx="3238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微软雅黑"/>
              </a:rPr>
              <a:t>· </a:t>
            </a:r>
            <a:r>
              <a:rPr sz="1200" b="0">
                <a:solidFill>
                  <a:srgbClr val="E2E8F0"/>
                </a:solidFill>
                <a:latin typeface="微软雅黑"/>
              </a:rPr>
              <a:t>读一份日志并搜索关键字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2E8F0"/>
                </a:solidFill>
                <a:latin typeface="微软雅黑"/>
              </a:rPr>
              <a:t>工程化：三层测试与四平台 CI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76350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457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kalo · github.com/TanTaiwoo07/kalo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457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09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4780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单元测试断言数（含随机差分与内存收支核对）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695450"/>
            <a:ext cx="5905500" cy="1123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6600" b="1">
                <a:solidFill>
                  <a:srgbClr val="38BDF8"/>
                </a:solidFill>
                <a:latin typeface="Consolas"/>
              </a:rPr>
              <a:t>18,964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0850"/>
            <a:ext cx="5905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E2E8F0"/>
                </a:solidFill>
                <a:latin typeface="微软雅黑"/>
              </a:rPr>
              <a:t>数量本身不是价值，关键是里面包含对照 std::string 的随机差分测试，能抓出人眼看不出的错误。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19500"/>
            <a:ext cx="5905500" cy="609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6300" y="37147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38BDF8"/>
                </a:solidFill>
                <a:latin typeface="微软雅黑"/>
              </a:rPr>
              <a:t>单元测试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962400"/>
            <a:ext cx="5429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差分模糊测试、规模测试、new/delete 收支核对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24350"/>
            <a:ext cx="5905500" cy="609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6300" y="4419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38BDF8"/>
                </a:solidFill>
                <a:latin typeface="微软雅黑"/>
              </a:rPr>
              <a:t>端到端冒烟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667250"/>
            <a:ext cx="5429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管道喂按键序列，核对落盘内容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029200"/>
            <a:ext cx="5905500" cy="609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6300" y="51244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38BDF8"/>
                </a:solidFill>
                <a:latin typeface="微软雅黑"/>
              </a:rPr>
              <a:t>性能基准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372100"/>
            <a:ext cx="5429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与 std::string 同组操作对照，不进 CI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34200" y="1447800"/>
            <a:ext cx="4572000" cy="35433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62800" y="165735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持续集成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2800" y="1943100"/>
            <a:ext cx="41148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E2E8F0"/>
                </a:solidFill>
                <a:latin typeface="微软雅黑"/>
              </a:rPr>
              <a:t>四个环境跑同一套测试，警告一律当错误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2800" y="25146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E2E8F0"/>
                </a:solidFill>
                <a:latin typeface="Consolas"/>
              </a:rPr>
              <a:t>Linux · GCC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10750" y="2571750"/>
            <a:ext cx="146685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10750" y="2609850"/>
            <a:ext cx="1466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38BDF8"/>
                </a:solidFill>
                <a:latin typeface="Consolas"/>
              </a:rPr>
              <a:t>已通过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2800" y="3048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E2E8F0"/>
                </a:solidFill>
                <a:latin typeface="Consolas"/>
              </a:rPr>
              <a:t>macOS · Clang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10750" y="3105150"/>
            <a:ext cx="146685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810750" y="3143250"/>
            <a:ext cx="1466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38BDF8"/>
                </a:solidFill>
                <a:latin typeface="Consolas"/>
              </a:rPr>
              <a:t>已通过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2800" y="3581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E2E8F0"/>
                </a:solidFill>
                <a:latin typeface="Consolas"/>
              </a:rPr>
              <a:t>Windows · MSVC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10750" y="3638550"/>
            <a:ext cx="146685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810750" y="3676650"/>
            <a:ext cx="1466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38BDF8"/>
                </a:solidFill>
                <a:latin typeface="Consolas"/>
              </a:rPr>
              <a:t>零警告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800" y="41148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E2E8F0"/>
                </a:solidFill>
                <a:latin typeface="Consolas"/>
              </a:rPr>
              <a:t>Windows · MinGW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10750" y="4171950"/>
            <a:ext cx="146685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810750" y="4210050"/>
            <a:ext cx="1466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0">
                <a:solidFill>
                  <a:srgbClr val="38BDF8"/>
                </a:solidFill>
                <a:latin typeface="Consolas"/>
              </a:rPr>
              <a:t>零警告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2800" y="466725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-Werror / /WX：宁可 CI 红，也不让新警告悄悄进仓库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4200" y="5181600"/>
            <a:ext cx="4572000" cy="5524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62800" y="5314950"/>
            <a:ext cx="41148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0">
                <a:solidFill>
                  <a:srgbClr val="38BDF8"/>
                </a:solidFill>
                <a:latin typeface="微软雅黑"/>
              </a:rPr>
              <a:t>已知缺口：</a:t>
            </a:r>
            <a:r>
              <a:rPr sz="1125" b="0">
                <a:solidFill>
                  <a:srgbClr val="E2E8F0"/>
                </a:solidFill>
                <a:latin typeface="微软雅黑"/>
              </a:rPr>
              <a:t>macOS 与 WSL 至今没有真机验证过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2E8F0"/>
                </a:solidFill>
                <a:latin typeface="微软雅黑"/>
              </a:rPr>
              <a:t>项目亮点：与同类工具的差异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76350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457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kalo · github.com/TanTaiwoo07/kalo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457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10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485900"/>
          <a:ext cx="66675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1619250"/>
                <a:gridCol w="1524000"/>
                <a:gridCol w="1428750"/>
              </a:tblGrid>
              <a:tr h="408214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38BDF8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38BDF8"/>
                          </a:solidFill>
                          <a:latin typeface="微软雅黑"/>
                        </a:rPr>
                        <a:t>kalo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38BDF8"/>
                          </a:solidFill>
                          <a:latin typeface="微软雅黑"/>
                        </a:rPr>
                        <a:t>kilo 原版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38BDF8"/>
                          </a:solidFill>
                          <a:latin typeface="微软雅黑"/>
                        </a:rPr>
                        <a:t>nano / vim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8F0"/>
                          </a:solidFill>
                          <a:latin typeface="微软雅黑"/>
                        </a:rPr>
                        <a:t>中文列宽</a:t>
                      </a:r>
                    </a:p>
                  </a:txBody>
                  <a:tcPr marL="133350" marR="13335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8BDF8"/>
                          </a:solidFill>
                          <a:latin typeface="微软雅黑"/>
                        </a:rPr>
                        <a:t>正确</a:t>
                      </a:r>
                    </a:p>
                  </a:txBody>
                  <a:tcPr marL="133350" marR="133350"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错位</a:t>
                      </a:r>
                    </a:p>
                  </a:txBody>
                  <a:tcPr marL="133350" marR="13335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部分支持</a:t>
                      </a:r>
                    </a:p>
                  </a:txBody>
                  <a:tcPr marL="133350" marR="133350" anchor="ctr">
                    <a:solidFill>
                      <a:srgbClr val="0F172A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8F0"/>
                          </a:solidFill>
                          <a:latin typeface="微软雅黑"/>
                        </a:rPr>
                        <a:t>语法高亮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8BDF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133350" marR="133350"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8F0"/>
                          </a:solidFill>
                          <a:latin typeface="微软雅黑"/>
                        </a:rPr>
                        <a:t>大文件随机编辑</a:t>
                      </a:r>
                    </a:p>
                  </a:txBody>
                  <a:tcPr marL="133350" marR="13335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8BDF8"/>
                          </a:solidFill>
                          <a:latin typeface="微软雅黑"/>
                        </a:rPr>
                        <a:t>O(log K)</a:t>
                      </a:r>
                    </a:p>
                  </a:txBody>
                  <a:tcPr marL="133350" marR="133350"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O(n)</a:t>
                      </a:r>
                    </a:p>
                  </a:txBody>
                  <a:tcPr marL="133350" marR="13335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O(n)</a:t>
                      </a:r>
                    </a:p>
                  </a:txBody>
                  <a:tcPr marL="133350" marR="133350" anchor="ctr">
                    <a:solidFill>
                      <a:srgbClr val="0F172A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8F0"/>
                          </a:solidFill>
                          <a:latin typeface="微软雅黑"/>
                        </a:rPr>
                        <a:t>一致性保障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8BDF8"/>
                          </a:solidFill>
                          <a:latin typeface="微软雅黑"/>
                        </a:rPr>
                        <a:t>可断言不变式</a:t>
                      </a:r>
                    </a:p>
                  </a:txBody>
                  <a:tcPr marL="133350" marR="133350"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8F0"/>
                          </a:solidFill>
                          <a:latin typeface="微软雅黑"/>
                        </a:rPr>
                        <a:t>跨平台</a:t>
                      </a:r>
                    </a:p>
                  </a:txBody>
                  <a:tcPr marL="133350" marR="13335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8BDF8"/>
                          </a:solidFill>
                          <a:latin typeface="微软雅黑"/>
                        </a:rPr>
                        <a:t>四平台 CI</a:t>
                      </a:r>
                    </a:p>
                  </a:txBody>
                  <a:tcPr marL="133350" marR="133350"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依赖 POSIX</a:t>
                      </a:r>
                    </a:p>
                  </a:txBody>
                  <a:tcPr marL="133350" marR="13335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依赖 POSIX</a:t>
                      </a:r>
                    </a:p>
                  </a:txBody>
                  <a:tcPr marL="133350" marR="133350" anchor="ctr">
                    <a:solidFill>
                      <a:srgbClr val="0F172A"/>
                    </a:solidFill>
                  </a:tcPr>
                </a:tc>
              </a:tr>
              <a:tr h="408216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8F0"/>
                          </a:solidFill>
                          <a:latin typeface="微软雅黑"/>
                        </a:rPr>
                        <a:t>可读性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38BDF8"/>
                          </a:solidFill>
                          <a:latin typeface="微软雅黑"/>
                        </a:rPr>
                        <a:t>全源码可读</a:t>
                      </a:r>
                    </a:p>
                  </a:txBody>
                  <a:tcPr marL="133350" marR="133350" anchor="ctr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可读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94A3B8"/>
                          </a:solidFill>
                          <a:latin typeface="微软雅黑"/>
                        </a:rPr>
                        <a:t>体量大</a:t>
                      </a:r>
                    </a:p>
                  </a:txBody>
                  <a:tcPr marL="133350" marR="133350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96200" y="1485900"/>
            <a:ext cx="3810000" cy="838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05750" y="1638300"/>
            <a:ext cx="33909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38BDF8"/>
                </a:solidFill>
                <a:latin typeface="微软雅黑"/>
              </a:rPr>
              <a:t>一致性可被证明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0" y="1924050"/>
            <a:ext cx="33909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把「缓存没跑偏」写成可断言的不变式，并用随机差分测试守住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6200" y="2476500"/>
            <a:ext cx="3810000" cy="838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05750" y="2628900"/>
            <a:ext cx="33909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38BDF8"/>
                </a:solidFill>
                <a:latin typeface="微软雅黑"/>
              </a:rPr>
              <a:t>中文是一等公民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0" y="2914650"/>
            <a:ext cx="33909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东亚宽度 + 字符单元，不是打补丁而是模型上支持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6200" y="3467100"/>
            <a:ext cx="3810000" cy="838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05750" y="3619500"/>
            <a:ext cx="33909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38BDF8"/>
                </a:solidFill>
                <a:latin typeface="微软雅黑"/>
              </a:rPr>
              <a:t>代价被量化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0" y="3905250"/>
            <a:ext cx="33909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每一处取舍都有基准数据，包括对自己不利的那些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6200" y="4457700"/>
            <a:ext cx="3810000" cy="838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05750" y="4610100"/>
            <a:ext cx="33909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38BDF8"/>
                </a:solidFill>
                <a:latin typeface="微软雅黑"/>
              </a:rPr>
              <a:t>架构不藏技术债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750" y="4895850"/>
            <a:ext cx="33909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标注了 24 处未修的已知问题及修法，而不是假装没有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72000"/>
            <a:ext cx="6667500" cy="11620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4724400"/>
            <a:ext cx="62103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38BDF8"/>
                </a:solidFill>
                <a:latin typeface="Consolas"/>
              </a:rPr>
              <a:t>与 nano / vim 的关系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10150"/>
            <a:ext cx="621030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25" b="0">
                <a:solidFill>
                  <a:srgbClr val="E2E8F0"/>
                </a:solidFill>
                <a:latin typeface="微软雅黑"/>
              </a:rPr>
              <a:t>kalo 不是要替代它们——那是一个几十年积累的项目。
它的价值在于：全部源码可读、每一处设计取舍都有数据支撑，适合当作学习与实验的载体。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2038350"/>
            <a:ext cx="3810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250" b="1">
                <a:solidFill>
                  <a:srgbClr val="1E293B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575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900" b="1">
                <a:solidFill>
                  <a:srgbClr val="E2E8F0"/>
                </a:solidFill>
                <a:latin typeface="微软雅黑"/>
              </a:rPr>
              <a:t>未来计划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1100" y="373380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1100" y="394335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94A3B8"/>
                </a:solidFill>
                <a:latin typeface="微软雅黑"/>
              </a:rPr>
              <a:t>多语言语法高亮的分阶段路线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2865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2E8F0"/>
                </a:solidFill>
                <a:latin typeface="微软雅黑"/>
              </a:rPr>
              <a:t>语法高亮的现状与三处表达力瓶颈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76350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457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kalo · github.com/TanTaiwoo07/kalo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457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85900"/>
            <a:ext cx="51054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676400"/>
            <a:ext cx="4667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现在的做法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81200"/>
            <a:ext cx="466725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125" b="0">
                <a:solidFill>
                  <a:srgbClr val="E2E8F0"/>
                </a:solidFill>
                <a:latin typeface="微软雅黑"/>
              </a:rPr>
              <a:t>规则本身已经是数据驱动的：一张 SyntaxRule 描述后缀、关键字、类型名、注释符号，由一个逐字符的状态机按优先级顺序判定。
块注释状态会跨行传播，所以 /* */ 跨行也能正确着色。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19500"/>
            <a:ext cx="5105400" cy="211455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3810000"/>
            <a:ext cx="4667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目前支持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529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E2E8F0"/>
                </a:solidFill>
                <a:latin typeface="Consolas"/>
              </a:rPr>
              <a:t>C / C++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500" y="41529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Consolas"/>
              </a:rPr>
              <a:t>.c .h .cpp .hpp 等 8 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75" b="1">
                <a:solidFill>
                  <a:srgbClr val="E2E8F0"/>
                </a:solidFill>
                <a:latin typeface="Consolas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500" y="48006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Consolas"/>
              </a:rPr>
              <a:t>.py .pyw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85900"/>
            <a:ext cx="5334000" cy="1295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0" y="1657350"/>
            <a:ext cx="95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0" y="1657350"/>
            <a:ext cx="38481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>
                <a:solidFill>
                  <a:srgbClr val="E2E8F0"/>
                </a:solidFill>
                <a:latin typeface="微软雅黑"/>
              </a:rPr>
              <a:t>注释规则只能单值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9300"/>
            <a:ext cx="48768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singlelineComment / multilineStart 各只支持一套串，无法表达 Rust 的 /// 与 /** */，也无法表达 Python 三引号与 JS 模板串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933700"/>
            <a:ext cx="5334000" cy="1295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3105150"/>
            <a:ext cx="95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38BDF8"/>
                </a:solidFill>
                <a:latin typeface="Consola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0" y="3105150"/>
            <a:ext cx="38481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>
                <a:solidFill>
                  <a:srgbClr val="E2E8F0"/>
                </a:solidFill>
                <a:latin typeface="微软雅黑"/>
              </a:rPr>
              <a:t>关键字线性查找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67100"/>
            <a:ext cx="48768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std::find 逐个比对。关键字表扩到几百个后，每行每个标识符都要扫一遍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381500"/>
            <a:ext cx="5334000" cy="1295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0" y="4552950"/>
            <a:ext cx="95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38BDF8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0" y="4552950"/>
            <a:ext cx="38481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>
                <a:solidFill>
                  <a:srgbClr val="E2E8F0"/>
                </a:solidFill>
                <a:latin typeface="微软雅黑"/>
              </a:rPr>
              <a:t>没有行内多行状态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14900"/>
            <a:ext cx="48768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只有块注释能跨行。Python 三引号、JS 模板串这类跨行字符串目前无法正确着色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38BDF8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95250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E2E8F0"/>
                </a:solidFill>
                <a:latin typeface="微软雅黑"/>
              </a:rPr>
              <a:t>未来计划：多语言语法高亮的三个阶段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76350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6362700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4579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kalo · github.com/TanTaiwoo07/kalo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645795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1295400"/>
            <a:ext cx="819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排序依据：先用零风险的方式把语言数量铺开，再回头补规则表达力，最后才做外置。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6550" y="1905000"/>
            <a:ext cx="38100" cy="30480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724150" y="1790700"/>
            <a:ext cx="304800" cy="30480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77165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0">
                <a:solidFill>
                  <a:srgbClr val="94A3B8"/>
                </a:solidFill>
                <a:latin typeface="Consolas"/>
              </a:rPr>
              <a:t>阶段一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5740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1 – 2 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4700" y="1619250"/>
            <a:ext cx="8191500" cy="14859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62350" y="17716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E2E8F0"/>
                </a:solidFill>
                <a:latin typeface="微软雅黑"/>
              </a:rPr>
              <a:t>填表扩语言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350" y="2114550"/>
            <a:ext cx="771525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· 规则注册表化，去掉 forFile 里的硬编码列表
· 关键字改 unordered_set，补大小写敏感开关
· 新增 Java / JavaScript / TypeScript / Go / 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350" y="2857500"/>
            <a:ext cx="7715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38BDF8"/>
                </a:solidFill>
                <a:latin typeface="Consolas"/>
              </a:rPr>
              <a:t>不动语法引擎，只改数据与查找方式</a:t>
            </a:r>
          </a:p>
        </p:txBody>
      </p:sp>
      <p:sp>
        <p:nvSpPr>
          <p:cNvPr id="18" name="Oval 17"/>
          <p:cNvSpPr/>
          <p:nvPr/>
        </p:nvSpPr>
        <p:spPr>
          <a:xfrm>
            <a:off x="2724150" y="3333750"/>
            <a:ext cx="304800" cy="304800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331470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0">
                <a:solidFill>
                  <a:srgbClr val="94A3B8"/>
                </a:solidFill>
                <a:latin typeface="Consolas"/>
              </a:rPr>
              <a:t>阶段二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0045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1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4700" y="3162300"/>
            <a:ext cx="8191500" cy="14859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62350" y="33147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E2E8F0"/>
                </a:solidFill>
                <a:latin typeface="微软雅黑"/>
              </a:rPr>
              <a:t>重构规则表达力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2350" y="3657600"/>
            <a:ext cx="771525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· 注释与字符串定界符改为列表，支持多套规则
· 抽出 Lexer 分层，把状态机的 if 链拆成规则匹配
· 补 Python 三引号、JS 模板串与正则、Go 原始串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2350" y="4400550"/>
            <a:ext cx="7715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38BDF8"/>
                </a:solidFill>
                <a:latin typeface="Consolas"/>
              </a:rPr>
              <a:t>代价是要动 highlightRow，但测试已有 18964 项断言兜底</a:t>
            </a:r>
          </a:p>
        </p:txBody>
      </p:sp>
      <p:sp>
        <p:nvSpPr>
          <p:cNvPr id="25" name="Oval 24"/>
          <p:cNvSpPr/>
          <p:nvPr/>
        </p:nvSpPr>
        <p:spPr>
          <a:xfrm>
            <a:off x="2724150" y="4876800"/>
            <a:ext cx="304800" cy="30480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" y="485775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00" b="0">
                <a:solidFill>
                  <a:srgbClr val="38BDF8"/>
                </a:solidFill>
                <a:latin typeface="Consolas"/>
              </a:rPr>
              <a:t>阶段三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4350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Consolas"/>
              </a:rPr>
              <a:t>1 – 2 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4700" y="4705350"/>
            <a:ext cx="8191500" cy="14859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562350" y="48577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E2E8F0"/>
                </a:solidFill>
                <a:latin typeface="微软雅黑"/>
              </a:rPr>
              <a:t>规则外置为配置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2350" y="5200650"/>
            <a:ext cx="771525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94A3B8"/>
                </a:solidFill>
                <a:latin typeface="微软雅黑"/>
              </a:rPr>
              <a:t>· 规则从 C++ 常量改为 JSON，加语言不必重编
· 支持字符串跨行等行内多行状态
· 为将来的语言包与第三方贡献留出接口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2350" y="5943600"/>
            <a:ext cx="77152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38BDF8"/>
                </a:solidFill>
                <a:latin typeface="Consolas"/>
              </a:rPr>
              <a:t>需自写约 300 行 JSON 解析，保持零第三方依赖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1257300"/>
            <a:ext cx="9906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900" b="1">
                <a:solidFill>
                  <a:srgbClr val="E2E8F0"/>
                </a:solidFill>
                <a:latin typeface="微软雅黑"/>
              </a:rPr>
              <a:t>可运行 · 可测量 · 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1100" y="205740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43000" y="23241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4A3B8"/>
                </a:solidFill>
                <a:latin typeface="微软雅黑"/>
              </a:rPr>
              <a:t>接下来先把阶段一做掉，再动选择区与多缓冲区。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43250"/>
            <a:ext cx="23812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4050" b="1">
                <a:solidFill>
                  <a:srgbClr val="38BDF8"/>
                </a:solidFill>
                <a:latin typeface="Consolas"/>
              </a:rPr>
              <a:t>3,467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038600"/>
            <a:ext cx="2381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行 C++ 源码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7100" y="3143250"/>
            <a:ext cx="9525" cy="9144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38550" y="3143250"/>
            <a:ext cx="23812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4050" b="1">
                <a:solidFill>
                  <a:srgbClr val="E2E8F0"/>
                </a:solidFill>
                <a:latin typeface="Consolas"/>
              </a:rPr>
              <a:t>18,964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4038600"/>
            <a:ext cx="2381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项断言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2650" y="3143250"/>
            <a:ext cx="9525" cy="9144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34100" y="3143250"/>
            <a:ext cx="23812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4050" b="1">
                <a:solidFill>
                  <a:srgbClr val="E2E8F0"/>
                </a:solidFill>
                <a:latin typeface="Consolas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100" y="4038600"/>
            <a:ext cx="2381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项端到端用例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3143250"/>
            <a:ext cx="9525" cy="9144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29650" y="3143250"/>
            <a:ext cx="23812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4050" b="1">
                <a:solidFill>
                  <a:srgbClr val="E2E8F0"/>
                </a:solidFill>
                <a:latin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9650" y="4038600"/>
            <a:ext cx="2381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个平台 CI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724400"/>
            <a:ext cx="9906000" cy="8763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09700" y="4933950"/>
            <a:ext cx="93726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38BDF8"/>
                </a:solidFill>
                <a:latin typeface="Consolas"/>
              </a:rPr>
              <a:t>github.com/TanTaiwoo07/kalo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9700" y="5257800"/>
            <a:ext cx="93726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4A3B8"/>
                </a:solidFill>
                <a:latin typeface="微软雅黑"/>
              </a:rPr>
              <a:t>项目是「人主导设计、AI 协助实现」的产物，README 里逐项标注了每一部分代码的来历。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